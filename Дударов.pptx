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6858000" cy="9144000"/>
  <p:embeddedFontLst>
    <p:embeddedFont>
      <p:font typeface="Roboto" panose="02000000000000000000" pitchFamily="2" charset="0"/>
      <p:regular r:id="rId10"/>
      <p:bold r:id="rId11"/>
      <p:italic r:id="rId12"/>
      <p:boldItalic r:id="rId13"/>
    </p:embeddedFont>
    <p:embeddedFont>
      <p:font typeface="Roboto Mono" panose="020B0604020202020204" charset="0"/>
      <p:regular r:id="rId14"/>
      <p:bold r:id="rId15"/>
      <p:italic r:id="rId16"/>
      <p:boldItalic r:id="rId1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73EA186F-D59A-4B77-89D9-4614A038E7D1}">
  <a:tblStyle styleId="{73EA186F-D59A-4B77-89D9-4614A038E7D1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44" d="100"/>
          <a:sy n="144" d="100"/>
        </p:scale>
        <p:origin x="654" y="12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4.fntdata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17" Type="http://schemas.openxmlformats.org/officeDocument/2006/relationships/font" Target="fonts/font8.fntdata"/><Relationship Id="rId2" Type="http://schemas.openxmlformats.org/officeDocument/2006/relationships/slide" Target="slides/slide1.xml"/><Relationship Id="rId16" Type="http://schemas.openxmlformats.org/officeDocument/2006/relationships/font" Target="fonts/font7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font" Target="fonts/font6.fntdata"/><Relationship Id="rId10" Type="http://schemas.openxmlformats.org/officeDocument/2006/relationships/font" Target="fonts/font1.fntdata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edf8337cf3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edf8337cf3_0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edf8337cf3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edf8337cf3_0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3edf8337cf3_0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3edf8337cf3_0_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3edf8337cf3_0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3edf8337cf3_0_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edf8337cf3_0_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3edf8337cf3_0_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.jpg"/><Relationship Id="rId4" Type="http://schemas.openxmlformats.org/officeDocument/2006/relationships/image" Target="../media/image2.jp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gif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311700" y="663725"/>
            <a:ext cx="8520600" cy="85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2600" b="1">
                <a:solidFill>
                  <a:srgbClr val="0F1115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Мобильный блогинг</a:t>
            </a:r>
            <a:endParaRPr sz="2600" b="1">
              <a:solidFill>
                <a:srgbClr val="0F1115"/>
              </a:solidFill>
              <a:highlight>
                <a:srgbClr val="FFFFFF"/>
              </a:highlight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2600" b="1" i="1">
                <a:solidFill>
                  <a:srgbClr val="0F1115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Приложение для съемки и просмотра видео</a:t>
            </a:r>
            <a:endParaRPr sz="2600" b="1" i="1">
              <a:solidFill>
                <a:srgbClr val="0F1115"/>
              </a:solidFill>
              <a:highlight>
                <a:srgbClr val="FFFFFF"/>
              </a:highlight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600">
              <a:solidFill>
                <a:srgbClr val="F9FAFB"/>
              </a:solidFill>
              <a:highlight>
                <a:srgbClr val="151517"/>
              </a:highlight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>
            <a:spLocks noGrp="1"/>
          </p:cNvSpPr>
          <p:nvPr>
            <p:ph type="title"/>
          </p:nvPr>
        </p:nvSpPr>
        <p:spPr>
          <a:xfrm>
            <a:off x="311700" y="37255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45454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ct val="38298"/>
              <a:buFont typeface="Arial"/>
              <a:buNone/>
            </a:pPr>
            <a:r>
              <a:rPr lang="ru" sz="2872" b="1">
                <a:solidFill>
                  <a:srgbClr val="0F1115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Схема работы приложения</a:t>
            </a:r>
            <a:endParaRPr sz="2872" b="1">
              <a:solidFill>
                <a:srgbClr val="0F1115"/>
              </a:solidFill>
              <a:highlight>
                <a:srgbClr val="FFFFFF"/>
              </a:highlight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61;p1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55600" algn="l" rtl="0">
              <a:spcBef>
                <a:spcPts val="1200"/>
              </a:spcBef>
              <a:spcAft>
                <a:spcPts val="0"/>
              </a:spcAft>
              <a:buClr>
                <a:srgbClr val="0F1115"/>
              </a:buClr>
              <a:buSzPts val="2000"/>
              <a:buFont typeface="Roboto"/>
              <a:buChar char="●"/>
            </a:pPr>
            <a:r>
              <a:rPr lang="ru" sz="2000">
                <a:solidFill>
                  <a:srgbClr val="0F1115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Пользователь → регистрация/вход</a:t>
            </a:r>
            <a:endParaRPr sz="2000">
              <a:solidFill>
                <a:srgbClr val="0F1115"/>
              </a:solidFill>
              <a:highlight>
                <a:srgbClr val="FFFFFF"/>
              </a:highlight>
              <a:latin typeface="Roboto"/>
              <a:ea typeface="Roboto"/>
              <a:cs typeface="Roboto"/>
              <a:sym typeface="Roboto"/>
            </a:endParaRPr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Clr>
                <a:srgbClr val="0F1115"/>
              </a:buClr>
              <a:buSzPts val="2000"/>
              <a:buFont typeface="Roboto"/>
              <a:buChar char="●"/>
            </a:pPr>
            <a:r>
              <a:rPr lang="ru" sz="2000">
                <a:solidFill>
                  <a:srgbClr val="0F1115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При первом входе выбор роли </a:t>
            </a:r>
            <a:endParaRPr sz="2000">
              <a:solidFill>
                <a:srgbClr val="0F1115"/>
              </a:solidFill>
              <a:highlight>
                <a:srgbClr val="FFFFFF"/>
              </a:highlight>
              <a:latin typeface="Roboto"/>
              <a:ea typeface="Roboto"/>
              <a:cs typeface="Roboto"/>
              <a:sym typeface="Roboto"/>
            </a:endParaRPr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Clr>
                <a:srgbClr val="0F1115"/>
              </a:buClr>
              <a:buSzPts val="2000"/>
              <a:buFont typeface="Roboto"/>
              <a:buChar char="●"/>
            </a:pPr>
            <a:r>
              <a:rPr lang="ru" sz="2000">
                <a:solidFill>
                  <a:srgbClr val="0F1115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Блогер → камера → запись видео → сохранение в Firestore и локальное хранилище.</a:t>
            </a:r>
            <a:endParaRPr sz="2000">
              <a:solidFill>
                <a:srgbClr val="0F1115"/>
              </a:solidFill>
              <a:highlight>
                <a:srgbClr val="FFFFFF"/>
              </a:highlight>
              <a:latin typeface="Roboto"/>
              <a:ea typeface="Roboto"/>
              <a:cs typeface="Roboto"/>
              <a:sym typeface="Roboto"/>
            </a:endParaRPr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Clr>
                <a:srgbClr val="0F1115"/>
              </a:buClr>
              <a:buSzPts val="2000"/>
              <a:buFont typeface="Roboto"/>
              <a:buChar char="●"/>
            </a:pPr>
            <a:r>
              <a:rPr lang="ru" sz="2000">
                <a:solidFill>
                  <a:srgbClr val="0F1115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Зритель → лента видео → просмотр → лайки/комментарии.</a:t>
            </a:r>
            <a:endParaRPr sz="2000">
              <a:solidFill>
                <a:srgbClr val="0F1115"/>
              </a:solidFill>
              <a:highlight>
                <a:srgbClr val="FFFFFF"/>
              </a:highlight>
              <a:latin typeface="Roboto"/>
              <a:ea typeface="Roboto"/>
              <a:cs typeface="Roboto"/>
              <a:sym typeface="Roboto"/>
            </a:endParaRPr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Clr>
                <a:srgbClr val="0F1115"/>
              </a:buClr>
              <a:buSzPts val="2000"/>
              <a:buFont typeface="Roboto"/>
              <a:buChar char="●"/>
            </a:pPr>
            <a:r>
              <a:rPr lang="ru" sz="2000">
                <a:solidFill>
                  <a:srgbClr val="0F1115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Профиль → редактирование имени, смена роли, выход.</a:t>
            </a:r>
            <a:endParaRPr sz="2000">
              <a:solidFill>
                <a:srgbClr val="0F1115"/>
              </a:solidFill>
              <a:highlight>
                <a:srgbClr val="FFFFFF"/>
              </a:highlight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>
            <a:spLocks noGrp="1"/>
          </p:cNvSpPr>
          <p:nvPr>
            <p:ph type="title"/>
          </p:nvPr>
        </p:nvSpPr>
        <p:spPr>
          <a:xfrm>
            <a:off x="311700" y="39430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45454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ct val="38596"/>
              <a:buFont typeface="Arial"/>
              <a:buNone/>
            </a:pPr>
            <a:r>
              <a:rPr lang="ru" sz="2850" b="1">
                <a:solidFill>
                  <a:srgbClr val="0F1115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Технологии и инструменты</a:t>
            </a:r>
            <a:endParaRPr sz="2850" b="1">
              <a:solidFill>
                <a:srgbClr val="0F1115"/>
              </a:solidFill>
              <a:highlight>
                <a:srgbClr val="FFFFFF"/>
              </a:highlight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67;p1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10000"/>
          </a:bodyPr>
          <a:lstStyle/>
          <a:p>
            <a:pPr marL="457200" lvl="0" indent="-346075" algn="l" rtl="0">
              <a:spcBef>
                <a:spcPts val="1200"/>
              </a:spcBef>
              <a:spcAft>
                <a:spcPts val="0"/>
              </a:spcAft>
              <a:buClr>
                <a:srgbClr val="0F1115"/>
              </a:buClr>
              <a:buSzPct val="100000"/>
              <a:buFont typeface="Roboto"/>
              <a:buChar char="●"/>
            </a:pPr>
            <a:r>
              <a:rPr lang="ru" sz="2000">
                <a:solidFill>
                  <a:srgbClr val="0F1115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Язык/Dart: Flutter (фреймворк).</a:t>
            </a:r>
            <a:endParaRPr sz="2000">
              <a:solidFill>
                <a:srgbClr val="0F1115"/>
              </a:solidFill>
              <a:highlight>
                <a:srgbClr val="FFFFFF"/>
              </a:highlight>
              <a:latin typeface="Roboto"/>
              <a:ea typeface="Roboto"/>
              <a:cs typeface="Roboto"/>
              <a:sym typeface="Roboto"/>
            </a:endParaRPr>
          </a:p>
          <a:p>
            <a:pPr marL="457200" lvl="0" indent="-346075" algn="l" rtl="0">
              <a:spcBef>
                <a:spcPts val="0"/>
              </a:spcBef>
              <a:spcAft>
                <a:spcPts val="0"/>
              </a:spcAft>
              <a:buClr>
                <a:srgbClr val="0F1115"/>
              </a:buClr>
              <a:buSzPct val="100000"/>
              <a:buFont typeface="Roboto"/>
              <a:buChar char="●"/>
            </a:pPr>
            <a:r>
              <a:rPr lang="ru" sz="2000">
                <a:solidFill>
                  <a:srgbClr val="0F1115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Среда разработки: Android Studio + VS Code.</a:t>
            </a:r>
            <a:endParaRPr sz="2000">
              <a:solidFill>
                <a:srgbClr val="0F1115"/>
              </a:solidFill>
              <a:highlight>
                <a:srgbClr val="FFFFFF"/>
              </a:highlight>
              <a:latin typeface="Roboto"/>
              <a:ea typeface="Roboto"/>
              <a:cs typeface="Roboto"/>
              <a:sym typeface="Roboto"/>
            </a:endParaRPr>
          </a:p>
          <a:p>
            <a:pPr marL="457200" lvl="0" indent="-346075" algn="l" rtl="0">
              <a:spcBef>
                <a:spcPts val="0"/>
              </a:spcBef>
              <a:spcAft>
                <a:spcPts val="0"/>
              </a:spcAft>
              <a:buClr>
                <a:srgbClr val="0F1115"/>
              </a:buClr>
              <a:buSzPct val="100000"/>
              <a:buFont typeface="Roboto"/>
              <a:buChar char="●"/>
            </a:pPr>
            <a:r>
              <a:rPr lang="ru" sz="2000">
                <a:solidFill>
                  <a:srgbClr val="0F1115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База данных: Cloud Firestore (Firebase).</a:t>
            </a:r>
            <a:endParaRPr sz="2000">
              <a:solidFill>
                <a:srgbClr val="0F1115"/>
              </a:solidFill>
              <a:highlight>
                <a:srgbClr val="FFFFFF"/>
              </a:highlight>
              <a:latin typeface="Roboto"/>
              <a:ea typeface="Roboto"/>
              <a:cs typeface="Roboto"/>
              <a:sym typeface="Roboto"/>
            </a:endParaRPr>
          </a:p>
          <a:p>
            <a:pPr marL="457200" lvl="0" indent="-346075" algn="l" rtl="0">
              <a:spcBef>
                <a:spcPts val="0"/>
              </a:spcBef>
              <a:spcAft>
                <a:spcPts val="0"/>
              </a:spcAft>
              <a:buClr>
                <a:srgbClr val="0F1115"/>
              </a:buClr>
              <a:buSzPct val="100000"/>
              <a:buFont typeface="Roboto"/>
              <a:buChar char="●"/>
            </a:pPr>
            <a:r>
              <a:rPr lang="ru" sz="2000">
                <a:solidFill>
                  <a:srgbClr val="0F1115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Аутентификация: Firebase Auth (Email/Password).</a:t>
            </a:r>
            <a:endParaRPr sz="2000">
              <a:solidFill>
                <a:srgbClr val="0F1115"/>
              </a:solidFill>
              <a:highlight>
                <a:srgbClr val="FFFFFF"/>
              </a:highlight>
              <a:latin typeface="Roboto"/>
              <a:ea typeface="Roboto"/>
              <a:cs typeface="Roboto"/>
              <a:sym typeface="Roboto"/>
            </a:endParaRPr>
          </a:p>
          <a:p>
            <a:pPr marL="457200" lvl="0" indent="-346075" algn="l" rtl="0">
              <a:spcBef>
                <a:spcPts val="0"/>
              </a:spcBef>
              <a:spcAft>
                <a:spcPts val="0"/>
              </a:spcAft>
              <a:buClr>
                <a:srgbClr val="0F1115"/>
              </a:buClr>
              <a:buSzPct val="100000"/>
              <a:buFont typeface="Roboto"/>
              <a:buChar char="●"/>
            </a:pPr>
            <a:r>
              <a:rPr lang="ru" sz="2000">
                <a:solidFill>
                  <a:srgbClr val="0F1115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Камера: пакет </a:t>
            </a:r>
            <a:r>
              <a:rPr lang="ru" sz="2000">
                <a:solidFill>
                  <a:srgbClr val="0F1115"/>
                </a:solidFill>
                <a:highlight>
                  <a:srgbClr val="EBEEF2"/>
                </a:highlight>
                <a:latin typeface="Roboto Mono"/>
                <a:ea typeface="Roboto Mono"/>
                <a:cs typeface="Roboto Mono"/>
                <a:sym typeface="Roboto Mono"/>
              </a:rPr>
              <a:t>camera</a:t>
            </a:r>
            <a:r>
              <a:rPr lang="ru" sz="2000">
                <a:solidFill>
                  <a:srgbClr val="0F1115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.</a:t>
            </a:r>
            <a:endParaRPr sz="2000">
              <a:solidFill>
                <a:srgbClr val="0F1115"/>
              </a:solidFill>
              <a:highlight>
                <a:srgbClr val="FFFFFF"/>
              </a:highlight>
              <a:latin typeface="Roboto"/>
              <a:ea typeface="Roboto"/>
              <a:cs typeface="Roboto"/>
              <a:sym typeface="Roboto"/>
            </a:endParaRPr>
          </a:p>
          <a:p>
            <a:pPr marL="457200" lvl="0" indent="-346075" algn="l" rtl="0">
              <a:spcBef>
                <a:spcPts val="0"/>
              </a:spcBef>
              <a:spcAft>
                <a:spcPts val="0"/>
              </a:spcAft>
              <a:buClr>
                <a:srgbClr val="0F1115"/>
              </a:buClr>
              <a:buSzPct val="100000"/>
              <a:buFont typeface="Roboto"/>
              <a:buChar char="●"/>
            </a:pPr>
            <a:r>
              <a:rPr lang="ru" sz="2000">
                <a:solidFill>
                  <a:srgbClr val="0F1115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Видеоплеер: </a:t>
            </a:r>
            <a:r>
              <a:rPr lang="ru" sz="2000">
                <a:solidFill>
                  <a:srgbClr val="0F1115"/>
                </a:solidFill>
                <a:highlight>
                  <a:srgbClr val="EBEEF2"/>
                </a:highlight>
                <a:latin typeface="Roboto Mono"/>
                <a:ea typeface="Roboto Mono"/>
                <a:cs typeface="Roboto Mono"/>
                <a:sym typeface="Roboto Mono"/>
              </a:rPr>
              <a:t>video_player</a:t>
            </a:r>
            <a:r>
              <a:rPr lang="ru" sz="2000">
                <a:solidFill>
                  <a:srgbClr val="0F1115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.</a:t>
            </a:r>
            <a:endParaRPr sz="2000">
              <a:solidFill>
                <a:srgbClr val="0F1115"/>
              </a:solidFill>
              <a:highlight>
                <a:srgbClr val="FFFFFF"/>
              </a:highlight>
              <a:latin typeface="Roboto"/>
              <a:ea typeface="Roboto"/>
              <a:cs typeface="Roboto"/>
              <a:sym typeface="Roboto"/>
            </a:endParaRPr>
          </a:p>
          <a:p>
            <a:pPr marL="457200" lvl="0" indent="-346075" algn="l" rtl="0">
              <a:spcBef>
                <a:spcPts val="0"/>
              </a:spcBef>
              <a:spcAft>
                <a:spcPts val="0"/>
              </a:spcAft>
              <a:buClr>
                <a:srgbClr val="0F1115"/>
              </a:buClr>
              <a:buSzPct val="100000"/>
              <a:buFont typeface="Roboto"/>
              <a:buChar char="●"/>
            </a:pPr>
            <a:r>
              <a:rPr lang="ru" sz="2000">
                <a:solidFill>
                  <a:srgbClr val="0F1115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Работа с файлами: </a:t>
            </a:r>
            <a:r>
              <a:rPr lang="ru" sz="2000">
                <a:solidFill>
                  <a:srgbClr val="0F1115"/>
                </a:solidFill>
                <a:highlight>
                  <a:srgbClr val="EBEEF2"/>
                </a:highlight>
                <a:latin typeface="Roboto Mono"/>
                <a:ea typeface="Roboto Mono"/>
                <a:cs typeface="Roboto Mono"/>
                <a:sym typeface="Roboto Mono"/>
              </a:rPr>
              <a:t>path_provider</a:t>
            </a:r>
            <a:r>
              <a:rPr lang="ru" sz="2000">
                <a:solidFill>
                  <a:srgbClr val="0F1115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.</a:t>
            </a:r>
            <a:endParaRPr sz="2000">
              <a:solidFill>
                <a:srgbClr val="0F1115"/>
              </a:solidFill>
              <a:highlight>
                <a:srgbClr val="FFFFFF"/>
              </a:highlight>
              <a:latin typeface="Roboto"/>
              <a:ea typeface="Roboto"/>
              <a:cs typeface="Roboto"/>
              <a:sym typeface="Roboto"/>
            </a:endParaRPr>
          </a:p>
          <a:p>
            <a:pPr marL="457200" lvl="0" indent="-346075" algn="l" rtl="0">
              <a:spcBef>
                <a:spcPts val="0"/>
              </a:spcBef>
              <a:spcAft>
                <a:spcPts val="0"/>
              </a:spcAft>
              <a:buClr>
                <a:srgbClr val="0F1115"/>
              </a:buClr>
              <a:buSzPct val="100000"/>
              <a:buFont typeface="Roboto"/>
              <a:buChar char="●"/>
            </a:pPr>
            <a:r>
              <a:rPr lang="ru" sz="2000">
                <a:solidFill>
                  <a:srgbClr val="0F1115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Сборка APK: Flutter CLI + Gradle (flavors для двух приложений).</a:t>
            </a:r>
            <a:endParaRPr sz="2000">
              <a:solidFill>
                <a:srgbClr val="0F1115"/>
              </a:solidFill>
              <a:highlight>
                <a:srgbClr val="FFFFFF"/>
              </a:highlight>
              <a:latin typeface="Roboto"/>
              <a:ea typeface="Roboto"/>
              <a:cs typeface="Roboto"/>
              <a:sym typeface="Roboto"/>
            </a:endParaRPr>
          </a:p>
          <a:p>
            <a:pPr marL="457200" lvl="0" indent="-346075" algn="l" rtl="0">
              <a:spcBef>
                <a:spcPts val="0"/>
              </a:spcBef>
              <a:spcAft>
                <a:spcPts val="0"/>
              </a:spcAft>
              <a:buClr>
                <a:srgbClr val="0F1115"/>
              </a:buClr>
              <a:buSzPct val="100000"/>
              <a:buFont typeface="Roboto"/>
              <a:buChar char="●"/>
            </a:pPr>
            <a:r>
              <a:rPr lang="ru" sz="2000">
                <a:solidFill>
                  <a:srgbClr val="0F1115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Дополнительно: </a:t>
            </a:r>
            <a:r>
              <a:rPr lang="ru" sz="2000">
                <a:solidFill>
                  <a:srgbClr val="0F1115"/>
                </a:solidFill>
                <a:highlight>
                  <a:srgbClr val="EBEEF2"/>
                </a:highlight>
                <a:latin typeface="Roboto Mono"/>
                <a:ea typeface="Roboto Mono"/>
                <a:cs typeface="Roboto Mono"/>
                <a:sym typeface="Roboto Mono"/>
              </a:rPr>
              <a:t>firebase_core</a:t>
            </a:r>
            <a:r>
              <a:rPr lang="ru" sz="2000">
                <a:solidFill>
                  <a:srgbClr val="0F1115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, </a:t>
            </a:r>
            <a:r>
              <a:rPr lang="ru" sz="2000">
                <a:solidFill>
                  <a:srgbClr val="0F1115"/>
                </a:solidFill>
                <a:highlight>
                  <a:srgbClr val="EBEEF2"/>
                </a:highlight>
                <a:latin typeface="Roboto Mono"/>
                <a:ea typeface="Roboto Mono"/>
                <a:cs typeface="Roboto Mono"/>
                <a:sym typeface="Roboto Mono"/>
              </a:rPr>
              <a:t>cloud_firestore</a:t>
            </a:r>
            <a:r>
              <a:rPr lang="ru" sz="2000">
                <a:solidFill>
                  <a:srgbClr val="0F1115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, </a:t>
            </a:r>
            <a:r>
              <a:rPr lang="ru" sz="2000">
                <a:solidFill>
                  <a:srgbClr val="0F1115"/>
                </a:solidFill>
                <a:highlight>
                  <a:srgbClr val="EBEEF2"/>
                </a:highlight>
                <a:latin typeface="Roboto Mono"/>
                <a:ea typeface="Roboto Mono"/>
                <a:cs typeface="Roboto Mono"/>
                <a:sym typeface="Roboto Mono"/>
              </a:rPr>
              <a:t>firebase_auth</a:t>
            </a:r>
            <a:r>
              <a:rPr lang="ru" sz="2000">
                <a:solidFill>
                  <a:srgbClr val="0F1115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.</a:t>
            </a:r>
            <a:endParaRPr sz="2000">
              <a:solidFill>
                <a:srgbClr val="0F1115"/>
              </a:solidFill>
              <a:highlight>
                <a:srgbClr val="FFFFFF"/>
              </a:highlight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endParaRPr sz="11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>
            <a:spLocks noGrp="1"/>
          </p:cNvSpPr>
          <p:nvPr>
            <p:ph type="title"/>
          </p:nvPr>
        </p:nvSpPr>
        <p:spPr>
          <a:xfrm>
            <a:off x="311700" y="48125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45454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ct val="38596"/>
              <a:buFont typeface="Arial"/>
              <a:buNone/>
            </a:pPr>
            <a:r>
              <a:rPr lang="ru" sz="2850" b="1">
                <a:solidFill>
                  <a:srgbClr val="0F1115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Основные экраны и функции</a:t>
            </a:r>
            <a:endParaRPr sz="2850" b="1">
              <a:solidFill>
                <a:srgbClr val="0F1115"/>
              </a:solidFill>
              <a:highlight>
                <a:srgbClr val="FFFFFF"/>
              </a:highlight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" name="Google Shape;73;p1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  <p:graphicFrame>
        <p:nvGraphicFramePr>
          <p:cNvPr id="74" name="Google Shape;74;p16"/>
          <p:cNvGraphicFramePr/>
          <p:nvPr/>
        </p:nvGraphicFramePr>
        <p:xfrm>
          <a:off x="427650" y="10852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{73EA186F-D59A-4B77-89D9-4614A038E7D1}</a:tableStyleId>
              </a:tblPr>
              <a:tblGrid>
                <a:gridCol w="2496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738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60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6304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10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Экран</a:t>
                      </a:r>
                      <a:endParaRPr sz="1100">
                        <a:solidFill>
                          <a:srgbClr val="0F1115"/>
                        </a:solidFill>
                        <a:highlight>
                          <a:srgbClr val="FFFFFF"/>
                        </a:highligh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152400" marT="95250" marB="95250">
                    <a:lnB w="10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6304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10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Функции</a:t>
                      </a:r>
                      <a:endParaRPr sz="1100">
                        <a:solidFill>
                          <a:srgbClr val="0F1115"/>
                        </a:solidFill>
                        <a:highlight>
                          <a:srgbClr val="FFFFFF"/>
                        </a:highligh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52400" marR="152400" marT="95250" marB="95250">
                    <a:lnB w="10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60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6304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10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Авторизация</a:t>
                      </a:r>
                      <a:endParaRPr sz="1100">
                        <a:solidFill>
                          <a:srgbClr val="0F1115"/>
                        </a:solidFill>
                        <a:highlight>
                          <a:srgbClr val="FFFFFF"/>
                        </a:highligh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152400" marT="95250" marB="95250">
                    <a:lnT w="10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0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6304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10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Вход/регистрация по email и паролю.</a:t>
                      </a:r>
                      <a:endParaRPr sz="1100">
                        <a:solidFill>
                          <a:srgbClr val="0F1115"/>
                        </a:solidFill>
                        <a:highlight>
                          <a:srgbClr val="FFFFFF"/>
                        </a:highligh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52400" marR="91425" marT="95250" marB="95250">
                    <a:lnT w="10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0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60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6304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10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Выбор роли</a:t>
                      </a:r>
                      <a:endParaRPr sz="1100">
                        <a:solidFill>
                          <a:srgbClr val="0F1115"/>
                        </a:solidFill>
                        <a:highlight>
                          <a:srgbClr val="FFFFFF"/>
                        </a:highligh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152400" marT="95250" marB="95250">
                    <a:lnT w="10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0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6304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10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Блогер / Зритель (сохранение в Firestore).</a:t>
                      </a:r>
                      <a:endParaRPr sz="1100">
                        <a:solidFill>
                          <a:srgbClr val="0F1115"/>
                        </a:solidFill>
                        <a:highlight>
                          <a:srgbClr val="FFFFFF"/>
                        </a:highligh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52400" marR="91425" marT="95250" marB="95250">
                    <a:lnT w="10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0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76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6304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10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Камера (Блогер)</a:t>
                      </a:r>
                      <a:endParaRPr sz="1100">
                        <a:solidFill>
                          <a:srgbClr val="0F1115"/>
                        </a:solidFill>
                        <a:highlight>
                          <a:srgbClr val="FFFFFF"/>
                        </a:highligh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152400" marT="95250" marB="95250">
                    <a:lnT w="10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0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6304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10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Запись видео, сохранение локально + Firestore (метаданные).</a:t>
                      </a:r>
                      <a:endParaRPr sz="1100">
                        <a:solidFill>
                          <a:srgbClr val="0F1115"/>
                        </a:solidFill>
                        <a:highlight>
                          <a:srgbClr val="FFFFFF"/>
                        </a:highligh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52400" marR="91425" marT="95250" marB="95250">
                    <a:lnT w="10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0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76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6304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10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Лента (Зритель)</a:t>
                      </a:r>
                      <a:endParaRPr sz="1100">
                        <a:solidFill>
                          <a:srgbClr val="0F1115"/>
                        </a:solidFill>
                        <a:highlight>
                          <a:srgbClr val="FFFFFF"/>
                        </a:highligh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152400" marT="95250" marB="95250">
                    <a:lnT w="10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0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6304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10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Список всех видео с возможностью просмотра.</a:t>
                      </a:r>
                      <a:endParaRPr sz="1100">
                        <a:solidFill>
                          <a:srgbClr val="0F1115"/>
                        </a:solidFill>
                        <a:highlight>
                          <a:srgbClr val="FFFFFF"/>
                        </a:highligh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52400" marR="91425" marT="95250" marB="95250">
                    <a:lnT w="10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0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60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6304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10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Плеер</a:t>
                      </a:r>
                      <a:endParaRPr sz="1100">
                        <a:solidFill>
                          <a:srgbClr val="0F1115"/>
                        </a:solidFill>
                        <a:highlight>
                          <a:srgbClr val="FFFFFF"/>
                        </a:highligh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152400" marT="95250" marB="95250">
                    <a:lnT w="10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0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6304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10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Лайки, комментарии, просмотр видео.</a:t>
                      </a:r>
                      <a:endParaRPr sz="1100">
                        <a:solidFill>
                          <a:srgbClr val="0F1115"/>
                        </a:solidFill>
                        <a:highlight>
                          <a:srgbClr val="FFFFFF"/>
                        </a:highligh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52400" marR="91425" marT="95250" marB="95250">
                    <a:lnT w="10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0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60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6304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10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Профиль</a:t>
                      </a:r>
                      <a:endParaRPr sz="1100">
                        <a:solidFill>
                          <a:srgbClr val="0F1115"/>
                        </a:solidFill>
                        <a:highlight>
                          <a:srgbClr val="FFFFFF"/>
                        </a:highligh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152400" marT="95250" marB="95250">
                    <a:lnT w="10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0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6304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100">
                          <a:solidFill>
                            <a:srgbClr val="0F1115"/>
                          </a:solidFill>
                          <a:highlight>
                            <a:srgbClr val="FFFFFF"/>
                          </a:highlight>
                          <a:latin typeface="Roboto"/>
                          <a:ea typeface="Roboto"/>
                          <a:cs typeface="Roboto"/>
                          <a:sym typeface="Roboto"/>
                        </a:rPr>
                        <a:t>Имя, почта, смена роли, выход.</a:t>
                      </a:r>
                      <a:endParaRPr sz="1100">
                        <a:solidFill>
                          <a:srgbClr val="0F1115"/>
                        </a:solidFill>
                        <a:highlight>
                          <a:srgbClr val="FFFFFF"/>
                        </a:highlight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52400" marR="91425" marT="95250" marB="95250">
                    <a:lnT w="10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0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7"/>
          <p:cNvSpPr txBox="1">
            <a:spLocks noGrp="1"/>
          </p:cNvSpPr>
          <p:nvPr>
            <p:ph type="title"/>
          </p:nvPr>
        </p:nvSpPr>
        <p:spPr>
          <a:xfrm>
            <a:off x="311700" y="50297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45454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ct val="38596"/>
              <a:buFont typeface="Arial"/>
              <a:buNone/>
            </a:pPr>
            <a:r>
              <a:rPr lang="ru" sz="2850" b="1">
                <a:solidFill>
                  <a:srgbClr val="0F1115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Итоги и результаты</a:t>
            </a:r>
            <a:endParaRPr sz="2850" b="1">
              <a:solidFill>
                <a:srgbClr val="0F1115"/>
              </a:solidFill>
              <a:highlight>
                <a:srgbClr val="FFFFFF"/>
              </a:highlight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" name="Google Shape;80;p1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2000">
                <a:solidFill>
                  <a:srgbClr val="0F1115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Вывод:</a:t>
            </a:r>
            <a:endParaRPr sz="2000">
              <a:solidFill>
                <a:srgbClr val="0F1115"/>
              </a:solidFill>
              <a:highlight>
                <a:srgbClr val="FFFFFF"/>
              </a:highlight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ru" sz="2000">
                <a:solidFill>
                  <a:srgbClr val="0F1115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В ходе работы было разработано мобильное приложение для мобильного блогинга, которое решает задачу разделения функций между двумя типами пользователей: блогером (создание и публикация видео) и зрителем (просмотр, оценка и комментирование).</a:t>
            </a:r>
            <a:r>
              <a:rPr lang="ru" sz="2000">
                <a:solidFill>
                  <a:schemeClr val="dk1"/>
                </a:solidFill>
              </a:rPr>
              <a:t> </a:t>
            </a:r>
            <a:endParaRPr sz="20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Спасибо за внимание :)</a:t>
            </a:r>
            <a:endParaRPr/>
          </a:p>
        </p:txBody>
      </p:sp>
      <p:sp>
        <p:nvSpPr>
          <p:cNvPr id="86" name="Google Shape;86;p1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  <p:pic>
        <p:nvPicPr>
          <p:cNvPr id="87" name="Google Shape;87;p18" title="c5ea34f2a99bfdebf13988b597533229.jp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152475"/>
            <a:ext cx="3192814" cy="3991024"/>
          </a:xfrm>
          <a:prstGeom prst="rect">
            <a:avLst/>
          </a:prstGeom>
          <a:noFill/>
          <a:ln>
            <a:noFill/>
          </a:ln>
        </p:spPr>
      </p:pic>
      <p:pic>
        <p:nvPicPr>
          <p:cNvPr id="88" name="Google Shape;88;p18" title="42b0baaa6f65321fd3c8bbefccb90816.jp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476825" y="2476325"/>
            <a:ext cx="2667176" cy="26671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7E24066-6A97-499B-B707-DAB8A131D3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GITHUB: https://github.com/Mikail06s/cloneINST</a:t>
            </a:r>
            <a:endParaRPr lang="ru-RU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11276B2-4C57-4070-838C-9D7775792A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915CF580-75F8-4784-936D-BE8E7BBFD6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9766" y="1388441"/>
            <a:ext cx="2944467" cy="29444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8765661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264</Words>
  <Application>Microsoft Office PowerPoint</Application>
  <PresentationFormat>Экран (16:9)</PresentationFormat>
  <Paragraphs>38</Paragraphs>
  <Slides>7</Slides>
  <Notes>6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7</vt:i4>
      </vt:variant>
    </vt:vector>
  </HeadingPairs>
  <TitlesOfParts>
    <vt:vector size="11" baseType="lpstr">
      <vt:lpstr>Roboto</vt:lpstr>
      <vt:lpstr>Roboto Mono</vt:lpstr>
      <vt:lpstr>Arial</vt:lpstr>
      <vt:lpstr>Simple Light</vt:lpstr>
      <vt:lpstr>Мобильный блогинг Приложение для съемки и просмотра видео </vt:lpstr>
      <vt:lpstr>Схема работы приложения </vt:lpstr>
      <vt:lpstr>Технологии и инструменты </vt:lpstr>
      <vt:lpstr>Основные экраны и функции </vt:lpstr>
      <vt:lpstr>Итоги и результаты </vt:lpstr>
      <vt:lpstr>Спасибо за внимание :)</vt:lpstr>
      <vt:lpstr>GITHUB: https://github.com/Mikail06s/cloneINST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Мобильный блогинг Приложение для съемки и просмотра видео</dc:title>
  <dc:creator>STUD-WS-003</dc:creator>
  <cp:lastModifiedBy>STUD-WS-003</cp:lastModifiedBy>
  <cp:revision>1</cp:revision>
  <dcterms:modified xsi:type="dcterms:W3CDTF">2026-06-20T07:57:54Z</dcterms:modified>
</cp:coreProperties>
</file>